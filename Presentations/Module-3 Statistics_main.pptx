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67728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68896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70064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71232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73568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74736" y="45720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0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67728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68896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70064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71232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73568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74736" y="658368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67728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68896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70064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71232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973568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74736" y="859536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766560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967728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68896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370064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71232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973568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174736" y="1060704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66560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67728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68896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70064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71232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772400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973568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174736" y="1261872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6560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67728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68896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70064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71232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772400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973568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174736" y="1463040"/>
            <a:ext cx="54864" cy="54864"/>
          </a:xfrm>
          <a:prstGeom prst="ellipse">
            <a:avLst/>
          </a:prstGeom>
          <a:solidFill>
            <a:srgbClr val="7FB7B0">
              <a:alpha val="7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ESSENTIAL GUIDE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Statistics:</a:t>
            </a:r>
            <a:endParaRPr lang="en-US" sz="4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400" i="1" dirty="0">
                <a:solidFill>
                  <a:srgbClr val="7FB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Foundations</a:t>
            </a:r>
            <a:endParaRPr lang="en-US" sz="4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400" i="1" dirty="0">
                <a:solidFill>
                  <a:srgbClr val="7FB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Data Science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concepts  •  Plain-English explanations  •  Built for clarity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" y="4160520"/>
            <a:ext cx="1371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Pooja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vs Inferential Statistics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the same coin — one summarizes what you have, the other reasons about what you don't.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" cy="2651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 what the data shows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standard deviation, IQR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frequencies, percentiles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only the data you have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74520"/>
            <a:ext cx="73152" cy="2651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conclusions about the population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69748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tests, p-values, confidence intervals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and t-tests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from a sample to the whole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carries uncertainty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MEASURES OF CENTRAL TENDENCY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Mean, Median &amp; Mode — The 3 Centers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FBEE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41148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scores: 55, 60, 70, 70, 95. Each "average" tells a different story.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06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606040" cy="45720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÷ count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(55+60+70+70+95) ÷ 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share — pulled by extremes.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1920240"/>
            <a:ext cx="2606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8980" y="1920240"/>
            <a:ext cx="2606040" cy="4572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0420" y="2468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336042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042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55, 60, [70], 70, 95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186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student — robust to outliers.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920240"/>
            <a:ext cx="2606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920240"/>
            <a:ext cx="2606040" cy="457200"/>
          </a:xfrm>
          <a:prstGeom prst="rect">
            <a:avLst/>
          </a:prstGeom>
          <a:solidFill>
            <a:srgbClr val="FBEEDC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468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617220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appears twice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answer.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MEASURES OF SPREAD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&amp; Standard Deviation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560320" cy="2560320"/>
          </a:xfrm>
          <a:prstGeom prst="ellipse">
            <a:avLst/>
          </a:prstGeom>
          <a:solidFill>
            <a:srgbClr val="E6F3F2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331720"/>
            <a:ext cx="1828800" cy="1828800"/>
          </a:xfrm>
          <a:prstGeom prst="ellipse">
            <a:avLst/>
          </a:prstGeom>
          <a:solidFill>
            <a:srgbClr val="7FB7B0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69748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892808" y="315468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310896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33756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3364992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324612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03580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cluster = LOW spread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mean alone lies.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1783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can both average 70 — yet one has every student near 70, while the other has half at 50 and half at 90. Spread tells you which.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606040"/>
            <a:ext cx="4754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0" y="2606040"/>
            <a:ext cx="73152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6700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(σ²)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distances from the mean — squaring keeps gaps positive and amplifies large misses.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3566160"/>
            <a:ext cx="4754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356616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630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Deviation (σ)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variance — back in original units. Most data sits within ±1σ of the mean.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ROBUST SPREAD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Interquartile Range (IQR) &amp; the Box Plot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data, split into quarters. The middle 50% is the IQR — a spread measure that ignores outliers.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2788920"/>
            <a:ext cx="6035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65176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65176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514600"/>
            <a:ext cx="2834640" cy="548640"/>
          </a:xfrm>
          <a:prstGeom prst="rect">
            <a:avLst/>
          </a:prstGeom>
          <a:solidFill>
            <a:srgbClr val="7FB7B0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514600"/>
            <a:ext cx="0" cy="548640"/>
          </a:xfrm>
          <a:prstGeom prst="line">
            <a:avLst/>
          </a:prstGeom>
          <a:noFill/>
          <a:ln w="31750">
            <a:solidFill>
              <a:srgbClr val="141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91272" y="272491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3200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3200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3200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2350008"/>
            <a:ext cx="2834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   (middle 50%)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73152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Q3 − Q1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393192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93192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rule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Q1 − 1.5·IQR or Q3 + 1.5·IQR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931920"/>
            <a:ext cx="2651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931920"/>
            <a:ext cx="73152" cy="86868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— unlike the mean and standard deviation.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STANDARDIZATION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Z-Score — How Unusual is a Value?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tells you how many standard deviations a value sits from the mean. It puts every dataset on the same ruler.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3192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= </a:t>
            </a:r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− μ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554480" y="3154680"/>
            <a:ext cx="128016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point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deviation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2331720"/>
            <a:ext cx="1188720" cy="3657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2331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at the average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834640"/>
            <a:ext cx="1188720" cy="36576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|z| ≤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— within ±1σ (≈68% of data)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337560"/>
            <a:ext cx="1188720" cy="36576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|z| ≤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3337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common — within ±2σ (≈95%)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840480"/>
            <a:ext cx="1188720" cy="36576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840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|z| &gt;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840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likely an outlier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4434840"/>
            <a:ext cx="4114800" cy="365760"/>
          </a:xfrm>
          <a:prstGeom prst="rect">
            <a:avLst/>
          </a:prstGeom>
          <a:solidFill>
            <a:srgbClr val="FBEED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85, mean 70, σ=10  →  z = 1.5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DISTRIBUTIONS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Distribution — Nature's Bell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Heights, blood pressure, measurement errors — the same symmetric bell curve shows up everywhere.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691640"/>
            <a:ext cx="530352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68–95–99.7 Rule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falls within…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377440"/>
            <a:ext cx="640080" cy="45720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mean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926080"/>
            <a:ext cx="640080" cy="45720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±2σ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926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9808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mean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52160" y="3474720"/>
            <a:ext cx="640080" cy="45720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±3σ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34747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99.7%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9808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mean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1605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algorithms (linear regression, naïve Bayes, PCA) lean on this assumption.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DISTRIBUTIONS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Skewed Distributions — When the Bell Tilts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rarely perfectly symmetric. Skewness measures the lopsidedness — and tells you which "average" to trust.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965960"/>
            <a:ext cx="265176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(Negative) Skew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 the LEFT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3886200"/>
            <a:ext cx="2194560" cy="41148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&lt; Median &lt; Mode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874520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1965960"/>
            <a:ext cx="2651760" cy="1188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Symmetric (No Skew)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both ways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0" y="3886200"/>
            <a:ext cx="2194560" cy="41148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16" name="Text 12"/>
          <p:cNvSpPr/>
          <p:nvPr/>
        </p:nvSpPr>
        <p:spPr>
          <a:xfrm>
            <a:off x="365760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Median = Mode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09360" y="1874520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1965960"/>
            <a:ext cx="265176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(Positive) Skew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4652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 the RIGHT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583680" y="3886200"/>
            <a:ext cx="2194560" cy="41148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22" name="Text 17"/>
          <p:cNvSpPr/>
          <p:nvPr/>
        </p:nvSpPr>
        <p:spPr>
          <a:xfrm>
            <a:off x="658368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&lt; Median &lt; Mean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when data is skewed, prefer the MEDIAN over the mean — it's pulled less by the long tail.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THE BIG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Limit Theorem — Why Bells Are Everywhere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many random samples from ANY population. Plot their means. The distribution of those means becomes normal — even if the original data isn't.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2860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057400"/>
            <a:ext cx="228600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Any population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Skewed, weird, doesn't matter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697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3429000" y="2057400"/>
            <a:ext cx="22860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2057400"/>
            <a:ext cx="2286000" cy="1463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Take many samples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2900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mean of each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6692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6400800" y="2057400"/>
            <a:ext cx="22860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2057400"/>
            <a:ext cx="2286000" cy="1463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means → Normal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bell shape emerges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4434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why we can use the normal curve for tests, confidence intervals &amp; p-values — even on non-normal data.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RELATIONSHIPS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— How Two Variables Move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(r) is a number from −1 to +1 that measures how strongly two variables rise and fall together.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874520"/>
            <a:ext cx="237744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520440"/>
            <a:ext cx="2743200" cy="502920"/>
          </a:xfrm>
          <a:prstGeom prst="rect">
            <a:avLst/>
          </a:prstGeom>
          <a:solidFill>
            <a:srgbClr val="E6F3F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(r ≈ +1)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rise together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6160" y="1874520"/>
            <a:ext cx="2377440" cy="1554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3520440"/>
            <a:ext cx="2743200" cy="5029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Text 9"/>
          <p:cNvSpPr/>
          <p:nvPr/>
        </p:nvSpPr>
        <p:spPr>
          <a:xfrm>
            <a:off x="33832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(r ≈ 0)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linear pattern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309360" y="18288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240" y="1874520"/>
            <a:ext cx="2377440" cy="15544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09360" y="3520440"/>
            <a:ext cx="2743200" cy="5029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8" name="Text 13"/>
          <p:cNvSpPr/>
          <p:nvPr/>
        </p:nvSpPr>
        <p:spPr>
          <a:xfrm>
            <a:off x="63093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(r ≈ −1)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up, the other down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4206240"/>
            <a:ext cx="73152" cy="594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17"/>
          <p:cNvSpPr/>
          <p:nvPr/>
        </p:nvSpPr>
        <p:spPr>
          <a:xfrm>
            <a:off x="68580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causation. Ice cream sales and sunburn rise together — but neither causes the other (it's the sun).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RELATIONSHIPS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Covariance — Correlation's Unscaled Cousin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measures the DIRECTION of a linear relationship between two variables — but not its strength on a fixed scale.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cov(X,Y) = Σ (xᵢ − x̄)(yᵢ − ȳ) / (n − 1)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products of paired deviations from each mean.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tells you direction: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 the same direction     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 opposite directions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Covariance vs Correlation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37947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86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89320" y="2286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69480" y="2286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37947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89320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number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69480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−1 to +1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89320" y="3017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X × 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69480" y="3017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Unitless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37947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429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only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6948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+ strength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across datasets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6948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across datasets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BEEDC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correlation(X,Y) = cov(X,Y) ÷ (σₓ · σᵧ)  — correlation is just covariance, standardized.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INFERENCE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 &amp; P-Value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COURTROOM ANALOGY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"Innocent until proven guilty"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(H₀):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real effect — the defendant is innocent.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(H₁):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something is going on — guilty.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data. The more unusual under H₀, the more it sways the verdict.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So… what's a p-value?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seeing data this extreme IF the null hypothesis were true.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331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33172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 0.05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H₀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unusual enough to suspect a real effect.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42900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429000"/>
            <a:ext cx="73152" cy="10058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≥ 0.05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 to reject H₀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886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evidence — doesn't mean H₀ is true.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MYTH:  </a:t>
            </a:r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is NOT the probability that H₀ is true. It's how surprising the data is, given H₀.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Essential Concepts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statistics toolkit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ideas — together, the lens through which data makes sense.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202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vs Inferential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vs generalize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78308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9202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/ Mode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center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92024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spread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78308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92024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&amp; Box Plot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037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spread + outliers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926080"/>
            <a:ext cx="146304" cy="146304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σ from the mean?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0" y="278892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2926080"/>
            <a:ext cx="146304" cy="146304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974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68-95-99.7 rule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9260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bell tilts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278892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29260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0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 Theorem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bells appear everywhere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9319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886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move together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0" y="379476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39319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2926080" y="3886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69748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joint movement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79476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931920"/>
            <a:ext cx="146304" cy="146304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886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0060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trial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766560" y="3794760"/>
            <a:ext cx="2011680" cy="914400"/>
          </a:xfrm>
          <a:prstGeom prst="rect">
            <a:avLst/>
          </a:prstGeom>
          <a:solidFill>
            <a:srgbClr val="141B45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03720" y="3931920"/>
            <a:ext cx="146304" cy="146304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3886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0372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Surprise, given H₀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736592"/>
            <a:ext cx="1371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818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and the rest of statistics will fall into place.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772400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— Essential Concepts</dc:title>
  <dc:subject>PptxGenJS Presentation</dc:subject>
  <dc:creator>Pooja</dc:creator>
  <cp:lastModifiedBy>Pooja</cp:lastModifiedBy>
  <cp:revision>1</cp:revision>
  <dcterms:created xsi:type="dcterms:W3CDTF">2026-04-29T15:54:34Z</dcterms:created>
  <dcterms:modified xsi:type="dcterms:W3CDTF">2026-04-29T15:54:34Z</dcterms:modified>
</cp:coreProperties>
</file>