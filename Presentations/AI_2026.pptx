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8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09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73152" cy="73152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0" y="640080"/>
            <a:ext cx="109728" cy="109728"/>
          </a:xfrm>
          <a:prstGeom prst="ellipse">
            <a:avLst/>
          </a:prstGeom>
          <a:solidFill>
            <a:srgbClr val="06B6D4">
              <a:alpha val="5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2011680"/>
            <a:ext cx="146304" cy="146304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73152" cy="73152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4023360"/>
            <a:ext cx="109728" cy="10972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822960"/>
            <a:ext cx="146304" cy="146304"/>
          </a:xfrm>
          <a:prstGeom prst="ellipse">
            <a:avLst/>
          </a:prstGeom>
          <a:solidFill>
            <a:srgbClr val="06B6D4">
              <a:alpha val="5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82880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2926080"/>
            <a:ext cx="109728" cy="10972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0" y="3931920"/>
            <a:ext cx="146304" cy="146304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4297680"/>
            <a:ext cx="73152" cy="73152"/>
          </a:xfrm>
          <a:prstGeom prst="ellipse">
            <a:avLst/>
          </a:prstGeom>
          <a:solidFill>
            <a:srgbClr val="06B6D4">
              <a:alpha val="5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389120"/>
            <a:ext cx="109728" cy="109728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457200"/>
            <a:ext cx="146304" cy="146304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914400"/>
            <a:ext cx="1097280" cy="0"/>
          </a:xfrm>
          <a:prstGeom prst="line">
            <a:avLst/>
          </a:prstGeom>
          <a:noFill/>
          <a:ln w="9525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640080"/>
            <a:ext cx="0" cy="1371600"/>
          </a:xfrm>
          <a:prstGeom prst="line">
            <a:avLst/>
          </a:prstGeom>
          <a:noFill/>
          <a:ln w="9525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2011680"/>
            <a:ext cx="0" cy="1097280"/>
          </a:xfrm>
          <a:prstGeom prst="line">
            <a:avLst/>
          </a:prstGeom>
          <a:noFill/>
          <a:ln w="9525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822960"/>
            <a:ext cx="731520" cy="1005840"/>
          </a:xfrm>
          <a:prstGeom prst="line">
            <a:avLst/>
          </a:prstGeom>
          <a:noFill/>
          <a:ln w="9525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828800"/>
            <a:ext cx="0" cy="1097280"/>
          </a:xfrm>
          <a:prstGeom prst="line">
            <a:avLst/>
          </a:prstGeom>
          <a:noFill/>
          <a:ln w="9525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2926080"/>
            <a:ext cx="640080" cy="1005840"/>
          </a:xfrm>
          <a:prstGeom prst="line">
            <a:avLst/>
          </a:prstGeom>
          <a:noFill/>
          <a:ln w="9525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1920240"/>
            <a:ext cx="5486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2026 PERSPECTIVE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2331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640080" y="31089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Intelligence.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foundations to frontiers — understanding the systems that learn.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MAHANKALI SURYA TEJ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260604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508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704088" y="2057400"/>
            <a:ext cx="2743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305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AI?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intelligence in machines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73552" y="1417320"/>
            <a:ext cx="260604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56432" y="1508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474720" y="2057400"/>
            <a:ext cx="2743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21305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History of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5643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from 1950 to today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44184" y="1417320"/>
            <a:ext cx="260604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27064" y="1508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6245352" y="2057400"/>
            <a:ext cx="2743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21305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of 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27064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systems shaping industries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017520"/>
            <a:ext cx="260604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704088" y="3657600"/>
            <a:ext cx="2743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730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learn from data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73552" y="3017520"/>
            <a:ext cx="260604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56432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600" dirty="0"/>
          </a:p>
        </p:txBody>
      </p:sp>
      <p:sp>
        <p:nvSpPr>
          <p:cNvPr id="30" name="Shape 28"/>
          <p:cNvSpPr/>
          <p:nvPr/>
        </p:nvSpPr>
        <p:spPr>
          <a:xfrm>
            <a:off x="3474720" y="3657600"/>
            <a:ext cx="2743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3730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ML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56432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 &amp; reinforcement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44184" y="3017520"/>
            <a:ext cx="260604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27064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600" dirty="0"/>
          </a:p>
        </p:txBody>
      </p:sp>
      <p:sp>
        <p:nvSpPr>
          <p:cNvPr id="35" name="Shape 33"/>
          <p:cNvSpPr/>
          <p:nvPr/>
        </p:nvSpPr>
        <p:spPr>
          <a:xfrm>
            <a:off x="6245352" y="3657600"/>
            <a:ext cx="2743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27064" y="3730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 &amp; Tools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27064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powering modern ML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Artificial Intelligence?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4754880" cy="310896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2402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 is the ability of a computer to exhibit intelligence — either mimicking human reasoning or observing real-world problems and solving them autonomously.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7240" y="3840480"/>
            <a:ext cx="3657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2194560"/>
            <a:ext cx="9601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3317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29077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577840" y="31272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697480"/>
            <a:ext cx="274320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040880" y="2194560"/>
            <a:ext cx="9601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233172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40880" y="29077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040880" y="31272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2743200"/>
            <a:ext cx="228600" cy="2286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126480" y="3749040"/>
            <a:ext cx="260604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88620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122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812280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at scale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History of 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88920"/>
            <a:ext cx="80467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688336"/>
            <a:ext cx="201168" cy="201168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468880"/>
            <a:ext cx="0" cy="219456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" y="1508760"/>
            <a:ext cx="8686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" y="1508760"/>
            <a:ext cx="868680" cy="25603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" y="15179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1950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" y="1801368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Turing Test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7764" y="2075688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of a machine's ability to exhibit intelligent behavior indistinguishable from a human.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625346" y="2688336"/>
            <a:ext cx="201168" cy="201168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25930" y="2889504"/>
            <a:ext cx="0" cy="219456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1590" y="3108960"/>
            <a:ext cx="8686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1590" y="3108960"/>
            <a:ext cx="868680" cy="25603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1590" y="31181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1956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46454" y="3401568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Dartmouth Conference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346454" y="3675888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McCarthy coined the term 'Artificial Intelligence.'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574036" y="2688336"/>
            <a:ext cx="201168" cy="201168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74620" y="2468880"/>
            <a:ext cx="0" cy="219456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0280" y="1508760"/>
            <a:ext cx="8686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1508760"/>
            <a:ext cx="868680" cy="25603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15179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1966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95144" y="1801368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Chatbot — ELIZA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95144" y="2075688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Weizenbaum created the first chatbot, named ELIZA.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522726" y="2688336"/>
            <a:ext cx="201168" cy="201168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23310" y="2889504"/>
            <a:ext cx="0" cy="219456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8970" y="3108960"/>
            <a:ext cx="8686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8970" y="3108960"/>
            <a:ext cx="868680" cy="25603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8970" y="31181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1972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43834" y="3401568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WABOT-1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43834" y="3675888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intelligent humanoid robot was built in Japan.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471416" y="2688336"/>
            <a:ext cx="201168" cy="201168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2468880"/>
            <a:ext cx="0" cy="219456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37660" y="1508760"/>
            <a:ext cx="8686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37660" y="1508760"/>
            <a:ext cx="868680" cy="25603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37660" y="15179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92524" y="1801368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IBM Deep Blue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92524" y="2075688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the first computer to beat a world chess champion.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420106" y="2688336"/>
            <a:ext cx="201168" cy="201168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20690" y="2889504"/>
            <a:ext cx="0" cy="219456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86350" y="3108960"/>
            <a:ext cx="8686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86350" y="3108960"/>
            <a:ext cx="868680" cy="25603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6350" y="31181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41214" y="3401568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Watson &amp; Siri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141214" y="3675888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Watson won Jeopardy; Apple introduced Siri.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368796" y="2688336"/>
            <a:ext cx="201168" cy="201168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69380" y="2468880"/>
            <a:ext cx="0" cy="219456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5040" y="1508760"/>
            <a:ext cx="8686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35040" y="1508760"/>
            <a:ext cx="868680" cy="25603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15179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089904" y="1801368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Now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089904" y="2075688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provide information to users as predictions.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7317486" y="2688336"/>
            <a:ext cx="201168" cy="201168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18070" y="2889504"/>
            <a:ext cx="0" cy="219456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83730" y="3108960"/>
            <a:ext cx="8686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83730" y="3108960"/>
            <a:ext cx="868680" cy="25603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83730" y="31181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2015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038594" y="3401568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Echo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038594" y="3675888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assistants entered the mainstream home.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8266176" y="2688336"/>
            <a:ext cx="201168" cy="201168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66760" y="2468880"/>
            <a:ext cx="0" cy="219456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32420" y="1508760"/>
            <a:ext cx="8686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32420" y="1508760"/>
            <a:ext cx="868680" cy="25603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32420" y="15179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2018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987284" y="1801368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Self-Driving Cars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987284" y="2075688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and Google brought autonomous vehicles to roads.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— CONT.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Modern AI Era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926080"/>
            <a:ext cx="80467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2825496"/>
            <a:ext cx="201168" cy="20116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606040"/>
            <a:ext cx="0" cy="219456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" y="1645920"/>
            <a:ext cx="960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" y="1645920"/>
            <a:ext cx="96012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" y="16550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" y="192024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3484" y="219456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175B-parameter model showed scaling laws make LLMs broadly capable.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826187" y="2825496"/>
            <a:ext cx="201168" cy="20116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6771" y="3026664"/>
            <a:ext cx="0" cy="219456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46711" y="3246120"/>
            <a:ext cx="960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46711" y="3246120"/>
            <a:ext cx="96012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6711" y="32552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1575" y="352044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 Debuts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1575" y="379476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100M users in 2 months — fastest-growing app in internet history.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884279" y="2825496"/>
            <a:ext cx="201168" cy="20116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84863" y="2606040"/>
            <a:ext cx="0" cy="219456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04803" y="1645920"/>
            <a:ext cx="960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04803" y="1645920"/>
            <a:ext cx="96012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04803" y="16550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59667" y="192024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GPT-4 Multimodal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59667" y="219456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input, exam-level reasoning, and the rise of Claude, Bard, Llama.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942370" y="2825496"/>
            <a:ext cx="201168" cy="20116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2954" y="3026664"/>
            <a:ext cx="0" cy="219456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2894" y="3246120"/>
            <a:ext cx="960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2894" y="3246120"/>
            <a:ext cx="96012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2894" y="32552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17758" y="352044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Nobel for AlphaFold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17758" y="379476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Hassabis, Jumper and Hinton win Nobels in Chemistry and Physics for AI.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000462" y="2825496"/>
            <a:ext cx="201168" cy="20116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01046" y="2606040"/>
            <a:ext cx="0" cy="219456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20986" y="1645920"/>
            <a:ext cx="960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20986" y="1645920"/>
            <a:ext cx="96012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0986" y="16550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75850" y="192024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Video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75850" y="219456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Sora demos photorealistic text-to-video; Veo &amp; Kling follow.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058553" y="2825496"/>
            <a:ext cx="201168" cy="20116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59137" y="3026664"/>
            <a:ext cx="0" cy="219456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79077" y="3246120"/>
            <a:ext cx="960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79077" y="3246120"/>
            <a:ext cx="96012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79077" y="32552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733941" y="352044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GPT-5 &amp; Reasoning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733941" y="379476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Aug 2025; reasoning models like o3 and DeepSeek-R1 reshape the field.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116645" y="2825496"/>
            <a:ext cx="201168" cy="20116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17229" y="2606040"/>
            <a:ext cx="0" cy="219456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37169" y="1645920"/>
            <a:ext cx="960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37169" y="1645920"/>
            <a:ext cx="96012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37169" y="16550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92033" y="192024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Computer-Use Agents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792033" y="219456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ChatGPT Agent and Operator can autonomously control desktops.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8174736" y="2825496"/>
            <a:ext cx="201168" cy="20116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75320" y="3026664"/>
            <a:ext cx="0" cy="219456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95260" y="3246120"/>
            <a:ext cx="960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95260" y="3246120"/>
            <a:ext cx="96012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95260" y="32552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850124" y="352044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Mainstream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850124" y="379476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top human benchmarks; AI investment topped $580B in 2025.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02920" y="1234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curiosity to global infrastructure — the six years that changed everything.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828800"/>
            <a:ext cx="457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 world.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domains where intelligent systems are quietly reshaping how we live, heal, work and decide.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 Systems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71600"/>
            <a:ext cx="813816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predict what you'll want next — driving the modern entertainment, retail and music economy.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" y="2194560"/>
            <a:ext cx="1965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" y="2194560"/>
            <a:ext cx="19659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514600"/>
            <a:ext cx="914400" cy="914400"/>
          </a:xfrm>
          <a:prstGeom prst="ellipse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272034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3212" y="3566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Netflix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8932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Tailors film &amp; series picks to your viewing history.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46604" y="2194560"/>
            <a:ext cx="1965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46604" y="2194560"/>
            <a:ext cx="19659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72384" y="2514600"/>
            <a:ext cx="914400" cy="914400"/>
          </a:xfrm>
          <a:prstGeom prst="ellipse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124" y="272034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38044" y="3566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YouTube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683764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videos based on watch and search patterns.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631436" y="2194560"/>
            <a:ext cx="1965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31436" y="2194560"/>
            <a:ext cx="19659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157216" y="2514600"/>
            <a:ext cx="914400" cy="914400"/>
          </a:xfrm>
          <a:prstGeom prst="ellipse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956" y="272034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22876" y="3566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768596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products from past purchases and views.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716268" y="2194560"/>
            <a:ext cx="1965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716268" y="2194560"/>
            <a:ext cx="19659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242048" y="2514600"/>
            <a:ext cx="914400" cy="914400"/>
          </a:xfrm>
          <a:prstGeom prst="ellipse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788" y="2720340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07708" y="3566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Spotify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853428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Curates playlists from your listening behavior.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Analytics — Industry 4.0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4023360" cy="310896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377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↓40%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777240" y="3520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reduction in unplanned downtime when predictive models monitor industrial equipment.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00600" y="1417320"/>
            <a:ext cx="384048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1417320"/>
            <a:ext cx="73152" cy="1463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544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29200" y="20574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performance and failure modes of machinery before they occur, so maintenance is scheduled proactively instead of reactively.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800600" y="3063240"/>
            <a:ext cx="384048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00600" y="3063240"/>
            <a:ext cx="73152" cy="1463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20040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7784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29200" y="37033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downtime, longer equipment life, safer factory floors and a leaner supply chain — the foundation of Industry 4.0.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IBM Watson in Healthcare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4206240" cy="3108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331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230+</a:t>
            </a:r>
            <a:endParaRPr lang="en-US" sz="9600" dirty="0"/>
          </a:p>
        </p:txBody>
      </p:sp>
      <p:sp>
        <p:nvSpPr>
          <p:cNvPr id="12" name="Text 9"/>
          <p:cNvSpPr/>
          <p:nvPr/>
        </p:nvSpPr>
        <p:spPr>
          <a:xfrm>
            <a:off x="77724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organizations using IBM AI technology to support clinical decisions.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Watson helps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937760" y="1783080"/>
            <a:ext cx="3657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37760" y="201168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2093976"/>
            <a:ext cx="338328" cy="3383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Diagnostic Support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77840" y="22677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symptoms with vast medical literature in seconds.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937760" y="2852928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056" y="2935224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7784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 Discovery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577840" y="3108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research by surfacing patterns across studies.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937760" y="3694176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56" y="3776472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Outcomes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77840" y="3950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treatment responses based on similar historical cases.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Google's AI Eye Doctor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420624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1691640"/>
            <a:ext cx="2286000" cy="2286000"/>
          </a:xfrm>
          <a:prstGeom prst="ellipse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14884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DIABETIC RETINOPATHY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37760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Recognizing what humans miss.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937760" y="21945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AI eye doctor can recognize diabetic retinopathy — the leading cause of preventable blindness — by analyzing retinal scans with accuracy comparable to expert ophthalmologists.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37760" y="3657600"/>
            <a:ext cx="1828800" cy="86868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90%+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93776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49440" y="3657600"/>
            <a:ext cx="1828800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94944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TIME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 Recognition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417320"/>
            <a:ext cx="3657600" cy="310896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2194560"/>
            <a:ext cx="365760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2971800"/>
            <a:ext cx="365760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3749040"/>
            <a:ext cx="365760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4526280"/>
            <a:ext cx="365760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1417320"/>
            <a:ext cx="0" cy="31089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417320"/>
            <a:ext cx="0" cy="31089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417320"/>
            <a:ext cx="0" cy="31089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417320"/>
            <a:ext cx="0" cy="31089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011680"/>
            <a:ext cx="1188720" cy="1188720"/>
          </a:xfrm>
          <a:prstGeom prst="ellipse">
            <a:avLst/>
          </a:prstGeom>
          <a:solidFill>
            <a:srgbClr val="06B6D4">
              <a:alpha val="30000"/>
            </a:srgbClr>
          </a:solidFill>
          <a:ln w="25400">
            <a:solidFill>
              <a:srgbClr val="06B6D4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40280"/>
            <a:ext cx="731520" cy="7315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199632" y="194767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88352" y="194767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99632" y="313639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88352" y="313639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· TAGGED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292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Auto-tagging at scale.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02920" y="23317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Facebook's face-recognition system automatically detects and tags people in uploaded photos, learning facial signatures from billions of existing tags.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2920" y="3703320"/>
            <a:ext cx="42062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86200"/>
            <a:ext cx="411480" cy="4114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23444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daily across Facebook, Instagram, security &amp; access systems.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Buzzwords Associated with 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600200"/>
            <a:ext cx="3017520" cy="3017520"/>
          </a:xfrm>
          <a:prstGeom prst="ellipse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057400"/>
            <a:ext cx="2103120" cy="2103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2514600"/>
            <a:ext cx="1188720" cy="11887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944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0" y="1417320"/>
            <a:ext cx="370332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417320"/>
            <a:ext cx="777240" cy="105156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417320"/>
            <a:ext cx="777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43600" y="15544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1874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of human intelligence by computers.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0" y="2587752"/>
            <a:ext cx="370332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587752"/>
            <a:ext cx="777240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587752"/>
            <a:ext cx="777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0" y="27249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304495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of AI where algorithms learn from data to make decisions or predictions.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0" y="3758184"/>
            <a:ext cx="370332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3758184"/>
            <a:ext cx="777240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758184"/>
            <a:ext cx="777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943600" y="38953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0" y="421538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ML using artificial neural networks (ANN) inspired by the human brain.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402336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17320"/>
            <a:ext cx="402336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90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Programming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1051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496312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2898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2715768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011680" y="2331720"/>
            <a:ext cx="1051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249631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2898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2715768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291840" y="2331720"/>
            <a:ext cx="1051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496312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291840" y="2898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858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written by hand.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858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encode every decision logic explicitly.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617720" y="1417320"/>
            <a:ext cx="402336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617720" y="1417320"/>
            <a:ext cx="402336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617720" y="1490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846320" y="2331720"/>
            <a:ext cx="1051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496312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846320" y="2898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715768"/>
            <a:ext cx="182880" cy="18288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6126480" y="2331720"/>
            <a:ext cx="1051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496312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126480" y="2898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1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2715768"/>
            <a:ext cx="182880" cy="182880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7406640" y="2331720"/>
            <a:ext cx="1051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2496312"/>
            <a:ext cx="320040" cy="32004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406640" y="2898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100" dirty="0"/>
          </a:p>
        </p:txBody>
      </p:sp>
      <p:sp>
        <p:nvSpPr>
          <p:cNvPr id="38" name="Text 26"/>
          <p:cNvSpPr/>
          <p:nvPr/>
        </p:nvSpPr>
        <p:spPr>
          <a:xfrm>
            <a:off x="48006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learned from data.</a:t>
            </a:r>
            <a:endParaRPr lang="en-US" sz="1100" dirty="0"/>
          </a:p>
        </p:txBody>
      </p:sp>
      <p:sp>
        <p:nvSpPr>
          <p:cNvPr id="39" name="Text 27"/>
          <p:cNvSpPr/>
          <p:nvPr/>
        </p:nvSpPr>
        <p:spPr>
          <a:xfrm>
            <a:off x="48006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discovers patterns and produces a model.</a:t>
            </a:r>
            <a:endParaRPr lang="en-US" sz="950" dirty="0"/>
          </a:p>
        </p:txBody>
      </p:sp>
      <p:sp>
        <p:nvSpPr>
          <p:cNvPr id="40" name="Shape 28"/>
          <p:cNvSpPr/>
          <p:nvPr/>
        </p:nvSpPr>
        <p:spPr>
          <a:xfrm>
            <a:off x="4297680" y="2743200"/>
            <a:ext cx="548640" cy="548640"/>
          </a:xfrm>
          <a:prstGeom prst="ellipse">
            <a:avLst/>
          </a:prstGeom>
          <a:solidFill>
            <a:srgbClr val="0B1733"/>
          </a:solidFill>
          <a:ln w="25400">
            <a:solidFill>
              <a:srgbClr val="06B6D4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29"/>
          <p:cNvSpPr/>
          <p:nvPr/>
        </p:nvSpPr>
        <p:spPr>
          <a:xfrm>
            <a:off x="429768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Machine Learning Lifecycle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554480"/>
            <a:ext cx="1554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" y="1554480"/>
            <a:ext cx="15544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7190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178308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5216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 Data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5216" y="28803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inputs from sensors, logs, or sources.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532" y="26517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121408" y="1554480"/>
            <a:ext cx="1554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121408" y="1554480"/>
            <a:ext cx="15544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258568" y="17190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17830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258568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Wrangle Data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258568" y="28803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transform, and prepare the dataset.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2651760"/>
            <a:ext cx="182880" cy="1828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794760" y="1554480"/>
            <a:ext cx="1554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794760" y="1554480"/>
            <a:ext cx="15544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931920" y="17190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78308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31920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931920" y="28803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patterns, distributions, and relationships.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236" y="2651760"/>
            <a:ext cx="182880" cy="18288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468112" y="1554480"/>
            <a:ext cx="1554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5468112" y="1554480"/>
            <a:ext cx="15544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5605272" y="17190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178308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605272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&amp; Test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605272" y="28803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algorithm and validate accuracy.</a:t>
            </a:r>
            <a:endParaRPr lang="en-US" sz="10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588" y="2651760"/>
            <a:ext cx="182880" cy="18288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141464" y="1554480"/>
            <a:ext cx="1554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7141464" y="1554480"/>
            <a:ext cx="15544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7278624" y="17190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584" y="1783080"/>
            <a:ext cx="411480" cy="4114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278624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300" dirty="0"/>
          </a:p>
        </p:txBody>
      </p:sp>
      <p:sp>
        <p:nvSpPr>
          <p:cNvPr id="41" name="Text 30"/>
          <p:cNvSpPr/>
          <p:nvPr/>
        </p:nvSpPr>
        <p:spPr>
          <a:xfrm>
            <a:off x="7278624" y="28803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model into production and monitor.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Technologies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of intelligent systems — and where you can apply each.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" y="15544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" y="1554480"/>
            <a:ext cx="2697480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1719072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38428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38428" y="2011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THE WORLD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9788" y="267004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8388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9788" y="3063240"/>
            <a:ext cx="2240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9788" y="331012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388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Processing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9788" y="3703320"/>
            <a:ext cx="2240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9788" y="395020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8388" y="3840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Analytics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23260" y="15544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23260" y="1554480"/>
            <a:ext cx="269748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860" y="1719072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000500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Comprehend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4000500" y="2011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INPUT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451860" y="267004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80460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451860" y="3063240"/>
            <a:ext cx="2240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451860" y="331012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680460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3451860" y="3703320"/>
            <a:ext cx="2240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451860" y="395020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680460" y="3840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Analytics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085332" y="15544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085332" y="1554480"/>
            <a:ext cx="269748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932" y="1719072"/>
            <a:ext cx="457200" cy="4572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862572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6862572" y="2011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INTELLIGENT ACTION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6313932" y="26700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542532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6313932" y="3063240"/>
            <a:ext cx="2240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13932" y="33101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542532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Robotics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6313932" y="3703320"/>
            <a:ext cx="2240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313932" y="39502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542532" y="3840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8138160" cy="155448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7373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is the science of getting computers to learn, without being explicitly programmed.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371600" y="26060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Arthur Samuel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3154680"/>
            <a:ext cx="420624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3154680"/>
            <a:ext cx="73152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375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3319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decisions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3749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normal algorithms, the data itself drives the decision-making process.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00600" y="3154680"/>
            <a:ext cx="384048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00600" y="3154680"/>
            <a:ext cx="73152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3375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32120" y="3319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Self-programming systems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029200" y="37490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program themselves by learning patterns from examples.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Machine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141732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4068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281428" y="160020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868" y="16916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4068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4068" y="2606040"/>
            <a:ext cx="457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" y="27889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learns explicitly from labeled 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paired with clearly defined outputs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future values or outcomes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regression and classification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23260" y="141732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40614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143500" y="1600200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69164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0614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406140" y="2606040"/>
            <a:ext cx="457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51860" y="27889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explores patterns in raw 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qualitative or indirect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predict — it discovers structure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clustering and association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85332" y="141732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268212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8005572" y="160020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012" y="169164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8212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6268212" y="2606040"/>
            <a:ext cx="457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313932" y="27889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Reward-based learning from environment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 from positive/negative feedback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behavior over time through trial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games, robotics, autonomy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labeled examples to predict the unknown.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8660" y="2194560"/>
            <a:ext cx="1691640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242316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6032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0100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Labeled Data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0100" y="3474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Oranges, Bananas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020" y="2930652"/>
            <a:ext cx="228600" cy="228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20340" y="2194560"/>
            <a:ext cx="1691640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46120" y="242316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560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811780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811780" y="3474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</a:t>
            </a:r>
            <a:endParaRPr lang="en-US" sz="9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930652"/>
            <a:ext cx="228600" cy="228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32020" y="2194560"/>
            <a:ext cx="1691640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257800" y="242316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5603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23460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823460" y="3474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</a:t>
            </a:r>
            <a:endParaRPr lang="en-US" sz="9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2930652"/>
            <a:ext cx="228600" cy="22860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743700" y="2194560"/>
            <a:ext cx="1691640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269480" y="242316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56032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35140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835140" y="3474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orange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502920" y="4251960"/>
            <a:ext cx="8138160" cy="59436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with annotations → Algorithm processes them → Trained model produces accurate output for new inputs.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hidden structure in unlabeled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8660" y="2194560"/>
            <a:ext cx="1691640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242316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6032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0100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0100" y="3474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Mixed, no labels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020" y="2930652"/>
            <a:ext cx="228600" cy="228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20340" y="2194560"/>
            <a:ext cx="1691640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46120" y="242316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560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811780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811780" y="3474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patterns</a:t>
            </a:r>
            <a:endParaRPr lang="en-US" sz="9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930652"/>
            <a:ext cx="228600" cy="228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32020" y="2194560"/>
            <a:ext cx="1691640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257800" y="242316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5603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23460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823460" y="3474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&amp; signals</a:t>
            </a:r>
            <a:endParaRPr lang="en-US" sz="9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2930652"/>
            <a:ext cx="228600" cy="22860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743700" y="2194560"/>
            <a:ext cx="1691640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269480" y="242316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56032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35140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Trained Model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835140" y="3474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clusters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502920" y="4251960"/>
            <a:ext cx="8138160" cy="59436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needed — the system explores raw inputs and surfaces structure humans may have missed.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learn through interaction, reward and feedback loops.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2377440" cy="182880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37744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next action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2651760"/>
            <a:ext cx="23774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338328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2194560"/>
            <a:ext cx="2377440" cy="1828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37744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5216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85216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Banana? Orange?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852160" y="3611880"/>
            <a:ext cx="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0" name="Text 16"/>
          <p:cNvSpPr/>
          <p:nvPr/>
        </p:nvSpPr>
        <p:spPr>
          <a:xfrm>
            <a:off x="338328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REWARD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4206240"/>
            <a:ext cx="813816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learns by acting, observing the result, and adjusting — eventually answering: "It's an orange."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Techniques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141732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" y="1417320"/>
            <a:ext cx="2697480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748" y="1709928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4068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435608" y="3108960"/>
            <a:ext cx="54864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" y="3246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value from a continuous data set — like price, temperature, or demand.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4068" y="4114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44068" y="43251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Predicting house prices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23260" y="141732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23260" y="1417320"/>
            <a:ext cx="2697480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0" y="1709928"/>
            <a:ext cx="594360" cy="594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0614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297680" y="3108960"/>
            <a:ext cx="54864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51860" y="3246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 new observation into a predefined category — yes/no, spam/not, A/B/C.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406140" y="4114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406140" y="43251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spam filters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085332" y="141732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85332" y="1417320"/>
            <a:ext cx="269748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892" y="1709928"/>
            <a:ext cx="594360" cy="5943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68212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7159752" y="3108960"/>
            <a:ext cx="5486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13932" y="3246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observations into subsets so similar items end up together — without labels.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68212" y="4114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268212" y="43251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segmentation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Important Libraries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417320"/>
            <a:ext cx="2670048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" y="1417320"/>
            <a:ext cx="91440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53619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" y="187452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" y="213055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n-dimensional array — the foundation of scientific Python.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36976" y="1417320"/>
            <a:ext cx="2670048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36976" y="1417320"/>
            <a:ext cx="91440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76" y="153619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65576" y="187452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65576" y="213055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flexible data analysis tool built on top of NumPy.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1417320"/>
            <a:ext cx="2670048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53328" y="1417320"/>
            <a:ext cx="91440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153619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81928" y="187452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81928" y="213055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Workhorse library for regression, classification &amp; clustering.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" y="2999232"/>
            <a:ext cx="2670048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" y="2999232"/>
            <a:ext cx="9144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311810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9224" y="34564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" y="3712464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framework powering most modern research and LLM training.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36976" y="2999232"/>
            <a:ext cx="2670048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36976" y="2999232"/>
            <a:ext cx="91440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65576" y="311810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465576" y="34564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65576" y="3712464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LLMs and a hub of 1M+ open models for any task.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53328" y="2999232"/>
            <a:ext cx="2670048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53328" y="2999232"/>
            <a:ext cx="91440" cy="141732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311810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281928" y="34564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APPLICATIONS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81928" y="3712464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agents, RAG pipelines and tool-using apps on top of any LLM.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Algorithms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3200400"/>
            <a:ext cx="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3200400"/>
            <a:ext cx="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0" y="3200400"/>
            <a:ext cx="1371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72000" y="3200400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0" y="3200400"/>
            <a:ext cx="1371600" cy="1425409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0" y="3200400"/>
            <a:ext cx="0" cy="1425409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794760" y="2423160"/>
            <a:ext cx="1554480" cy="1554480"/>
          </a:xfrm>
          <a:prstGeom prst="ellipse">
            <a:avLst/>
          </a:prstGeom>
          <a:solidFill>
            <a:srgbClr val="0B1733"/>
          </a:solidFill>
          <a:ln w="38100">
            <a:solidFill>
              <a:srgbClr val="06B6D4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69748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79476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79476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" y="2948940"/>
            <a:ext cx="20116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32688" y="3127248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29489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194560" y="1523531"/>
            <a:ext cx="20116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304288" y="1701839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14600" y="152353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937760" y="1523531"/>
            <a:ext cx="20116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047488" y="1701839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57800" y="152353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Vector Machines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09360" y="2948940"/>
            <a:ext cx="20116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19088" y="3127248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29400" y="29489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Bayes Classifier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937760" y="4374349"/>
            <a:ext cx="20116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047488" y="4552657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57800" y="4374349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Clustering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194560" y="4374349"/>
            <a:ext cx="20116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304288" y="4552657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514600" y="4374349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Learning Algorithms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371600"/>
            <a:ext cx="1828800" cy="50292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Learning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74520"/>
            <a:ext cx="0" cy="22860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2103120"/>
            <a:ext cx="420624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103120"/>
            <a:ext cx="0" cy="18288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103120"/>
            <a:ext cx="0" cy="18288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2286000"/>
            <a:ext cx="182880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2286000"/>
            <a:ext cx="18288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554480" y="2852928"/>
            <a:ext cx="18288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2852928"/>
            <a:ext cx="54864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28529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54480" y="3236976"/>
            <a:ext cx="18288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54480" y="3236976"/>
            <a:ext cx="54864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2369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Linear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54480" y="3621024"/>
            <a:ext cx="18288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3621024"/>
            <a:ext cx="54864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36210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54480" y="4005072"/>
            <a:ext cx="18288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4480" y="4005072"/>
            <a:ext cx="54864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91640" y="40050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554480" y="4389120"/>
            <a:ext cx="18288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0" y="4389120"/>
            <a:ext cx="54864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43891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2852928"/>
            <a:ext cx="18288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0" y="2852928"/>
            <a:ext cx="548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8529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60720" y="3236976"/>
            <a:ext cx="18288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3236976"/>
            <a:ext cx="548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32369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60720" y="3621024"/>
            <a:ext cx="18288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3621024"/>
            <a:ext cx="548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36210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760720" y="4005072"/>
            <a:ext cx="18288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4005072"/>
            <a:ext cx="548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40050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760720" y="4389120"/>
            <a:ext cx="18288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4389120"/>
            <a:ext cx="548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43891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2743200"/>
            <a:ext cx="91440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291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continuous values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726680" y="2743200"/>
            <a:ext cx="91440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3291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discrete categories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011680"/>
            <a:ext cx="4572000" cy="457200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1691640"/>
            <a:ext cx="4572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Generative AI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0" y="297180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Revolution.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went from research curiosity to global infrastructure in just four years.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ChatGPT Phenomenon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launch that introduced large language models to the world.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4023360" cy="274320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30, 2022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100M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 2 MONTHS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fastest-growing consumer application in internet history.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00600" y="2148840"/>
            <a:ext cx="36576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3172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414016"/>
            <a:ext cx="338328" cy="33832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40680" y="2313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Conversational interface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40680" y="25877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anyone could simply talk to a state-of-the-art AI.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00600" y="310896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3191256"/>
            <a:ext cx="338328" cy="33832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40680" y="3090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GPT-3.5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440680" y="33649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RLHF — human feedback made responses helpful and safe.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800600" y="388620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3968496"/>
            <a:ext cx="338328" cy="33832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40680" y="3867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Sparked the AI race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440680" y="4142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Bard, Claude, Llama, Gemini and a $580B+ industry surge.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Frontier Model Wars 2026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AI dominates anymore — each frontier model now leads in a different specialty.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" y="1783080"/>
            <a:ext cx="20116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" y="1783080"/>
            <a:ext cx="201168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" y="18562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0332" y="2203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7492" y="2624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492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All-rounder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3212" y="3291840"/>
            <a:ext cx="1645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" y="3355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 2025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reasoning + multimodal in one model.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00884" y="1783080"/>
            <a:ext cx="20116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00884" y="1783080"/>
            <a:ext cx="2011680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00884" y="18562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Opus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500884" y="2203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38044" y="2624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38044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Coding &amp; writing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83764" y="3291840"/>
            <a:ext cx="1645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8044" y="3355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Powers Cursor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38044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SWE-bench; 54% of enterprise coding market.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31436" y="1783080"/>
            <a:ext cx="20116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31436" y="1783080"/>
            <a:ext cx="201168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1436" y="18562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3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631436" y="2203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68596" y="2624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68596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Multimodal &amp; long context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14316" y="3291840"/>
            <a:ext cx="1645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8596" y="3355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1M+ tokens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68596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video, audio &amp; image reasoning at scale.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61988" y="1783080"/>
            <a:ext cx="20116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61988" y="1783080"/>
            <a:ext cx="201168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1988" y="18562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Grok 4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761988" y="2203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99148" y="2624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99148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data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44868" y="3291840"/>
            <a:ext cx="1645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3355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X feed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99148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live social data; uncensored style.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4274820"/>
            <a:ext cx="813816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3022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era of "one model does everything" is ending. The era of specialized models has begun.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 &amp; Computer Use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answering questions to autonomously completing tasks across your apps and desktop.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3200400" cy="274320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168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1.3B</a:t>
            </a:r>
            <a:endParaRPr lang="en-US" sz="6400" dirty="0"/>
          </a:p>
        </p:txBody>
      </p:sp>
      <p:sp>
        <p:nvSpPr>
          <p:cNvPr id="13" name="Text 10"/>
          <p:cNvSpPr/>
          <p:nvPr/>
        </p:nvSpPr>
        <p:spPr>
          <a:xfrm>
            <a:off x="777240" y="36576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projected by 2028 (IDC). 70% of Fortune 500 companies already use Copilot.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93192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changed in 2025-26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931920" y="2148840"/>
            <a:ext cx="3657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31920" y="2377440"/>
            <a:ext cx="7772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1920" y="23774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006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Computer Use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00600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 to control mouse, keyboard and desktop autonomously.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31920" y="2926080"/>
            <a:ext cx="7772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31920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0060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 Operator → Agent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0060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browsing agent; merged into ChatGPT Agent Mode in July 2025.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931920" y="3474720"/>
            <a:ext cx="7772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31920" y="3474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00600" y="3429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&amp; GitHub Copilot Agent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0060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coding agents that ship pull requests on their own.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931920" y="4023360"/>
            <a:ext cx="7772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31920" y="40233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0060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Cowork &amp; Workspace Agents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0060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agents handling daily knowledge work across teams.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Video Generation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video from a text prompt — reshaping marketing, film and content creation.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" y="1783080"/>
            <a:ext cx="2011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" y="1783080"/>
            <a:ext cx="20116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Sora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" y="2313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7492" y="2560320"/>
            <a:ext cx="2743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 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" y="2953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clips with synchronized audio.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00884" y="1783080"/>
            <a:ext cx="2011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00884" y="1783080"/>
            <a:ext cx="20116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8044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Veo 3.1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38044" y="2313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38044" y="2560320"/>
            <a:ext cx="2743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8044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in class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38044" y="2953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@ 60fps with native sound generation.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31436" y="1783080"/>
            <a:ext cx="2011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31436" y="178308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8596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Kling 3.0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68596" y="2313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KUAISHOU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68596" y="2560320"/>
            <a:ext cx="2743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8596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3-min clips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68596" y="2953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Multi-shot sequences with character consistency.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61988" y="1783080"/>
            <a:ext cx="2011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1988" y="1783080"/>
            <a:ext cx="20116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99148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Seedance 2.0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99148" y="2313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BYTEDANCE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99148" y="2560320"/>
            <a:ext cx="2743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9148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Lock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99148" y="2953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character across scenes &amp; angles.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3749040"/>
            <a:ext cx="8138160" cy="77724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411480" cy="41148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28016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Hollywood pushback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280160" y="4069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Studios, guilds and unions clashed over copyright training data — production cost approaches zero, and creative industry roles are being redefined.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for Science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chatbots — AI is reshaping how we discover drugs, fold proteins and run experiments.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3840480" cy="2743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168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 2024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AlphaFold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777240" y="34290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Hassabis &amp; Jumper (DeepMind) and Baker won the 2024 Chemistry Nobel for solving protein structure prediction with AI.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1772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sequence to medicine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617720" y="2148840"/>
            <a:ext cx="36576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7720" y="2350008"/>
            <a:ext cx="1234440" cy="41148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17720" y="23500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200M+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23134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Protein structures predicted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0" y="25420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AlphaFold's free database covers nearly every known protein.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17720" y="2898648"/>
            <a:ext cx="1234440" cy="41148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17720" y="2898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2M+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28620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Researchers using it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43600" y="30906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190 countries — accelerating biology globally.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17720" y="3447288"/>
            <a:ext cx="1234440" cy="41148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17720" y="34472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AlphaFold 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34107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Drugs, DNA, RNA &amp; ligands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43600" y="363931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model goes beyond proteins to model full molecular interactions.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617720" y="3995928"/>
            <a:ext cx="1234440" cy="41148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17720" y="39959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943600" y="39593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AI-designed drugs in trials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943600" y="41879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Isomorphic Labs (DeepMind spinoff) entered human clinical trials.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—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of AI 2026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field actually stands at the start of 2026.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" y="1783080"/>
            <a:ext cx="269748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" y="1783080"/>
            <a:ext cx="91440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" y="18928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$581B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9788" y="2441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AI investment in 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" y="2807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year (Stanford AI Index)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23260" y="1783080"/>
            <a:ext cx="269748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3260" y="1783080"/>
            <a:ext cx="91440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1860" y="18928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451860" y="2441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score on Humanity's Last Exam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51860" y="2807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8.8% just one year earlier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5332" y="1783080"/>
            <a:ext cx="269748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5332" y="1783080"/>
            <a:ext cx="91440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3932" y="18928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700M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13932" y="2441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 weekly active 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3932" y="2807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100M in 2 months to mass adoption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1188" y="3364992"/>
            <a:ext cx="269748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" y="3364992"/>
            <a:ext cx="9144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" y="3474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85%+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89788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Computer-use benchmark accuracy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9788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agents now match human baseline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23260" y="3364992"/>
            <a:ext cx="269748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23260" y="3364992"/>
            <a:ext cx="91440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1860" y="3474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362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345186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Documented AI incidents in 2025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5186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not keeping pace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5332" y="3364992"/>
            <a:ext cx="269748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5332" y="3364992"/>
            <a:ext cx="91440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3932" y="3474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1.3B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313932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 projected by 2028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13932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enterprise forecast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73152" cy="73152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822960"/>
            <a:ext cx="109728" cy="109728"/>
          </a:xfrm>
          <a:prstGeom prst="ellipse">
            <a:avLst/>
          </a:prstGeom>
          <a:solidFill>
            <a:srgbClr val="06B6D4">
              <a:alpha val="5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2194560"/>
            <a:ext cx="146304" cy="146304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291840"/>
            <a:ext cx="73152" cy="73152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005840"/>
            <a:ext cx="109728" cy="10972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2103120"/>
            <a:ext cx="146304" cy="146304"/>
          </a:xfrm>
          <a:prstGeom prst="ellipse">
            <a:avLst/>
          </a:prstGeom>
          <a:solidFill>
            <a:srgbClr val="06B6D4">
              <a:alpha val="5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320040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4206240"/>
            <a:ext cx="109728" cy="10972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554480"/>
            <a:ext cx="5486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1691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DECK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ideas and pushback all welcome.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0" y="3931920"/>
            <a:ext cx="1828800" cy="0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069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6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2222</Words>
  <Application>Microsoft Office PowerPoint</Application>
  <PresentationFormat>On-screen Show (16:9)</PresentationFormat>
  <Paragraphs>547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subject>PptxGenJS Presentation</dc:subject>
  <dc:creator>Mahankali Surya Tej</dc:creator>
  <cp:lastModifiedBy>surya tej</cp:lastModifiedBy>
  <cp:revision>2</cp:revision>
  <dcterms:created xsi:type="dcterms:W3CDTF">2026-05-02T07:08:33Z</dcterms:created>
  <dcterms:modified xsi:type="dcterms:W3CDTF">2026-05-02T07:28:32Z</dcterms:modified>
</cp:coreProperties>
</file>