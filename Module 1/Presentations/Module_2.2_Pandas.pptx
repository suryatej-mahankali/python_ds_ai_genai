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04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BC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4114800" cy="45720"/>
          </a:xfrm>
          <a:prstGeom prst="rect">
            <a:avLst/>
          </a:prstGeom>
          <a:solidFill>
            <a:srgbClr val="E6BC2F"/>
          </a:solidFill>
          <a:ln w="12700">
            <a:solidFill>
              <a:srgbClr val="E6BC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· Series · Indexing · GroupBy · Merging · Reshaping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457200" cy="36576"/>
          </a:xfrm>
          <a:prstGeom prst="rect">
            <a:avLst/>
          </a:prstGeom>
          <a:solidFill>
            <a:srgbClr val="E6BC2F"/>
          </a:solidFill>
          <a:ln w="12700">
            <a:solidFill>
              <a:srgbClr val="E6BC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Generative AI · Master Program 2026 · Foundation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de-facto Python library for working with structured (tabular) data — built on NumPy, optimized for speed, and the foundation of every data science workflow.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powered by NumPy &amp; C — handles millions of rows efficiently.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Flexible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CSV, Excel, JSON, SQL, Parquet — clean, transform, merge, reshape with one API.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GroupBy, pivot, time-series, missing-data handling — all built in, all well-tested.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— Pandas  ·  Data Science &amp; Generative AI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 Matters in Data Science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B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scientist's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data wrangling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65176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B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10M+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8328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downloads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PyPI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51560"/>
            <a:ext cx="2651760" cy="15544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14300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6BC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722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for tabular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Python ecosystem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Used Everywhere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74320" cy="274320"/>
          </a:xfrm>
          <a:prstGeom prst="ellipse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pipelines —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before sklearn / XGBoost / Keras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17720" y="3383280"/>
            <a:ext cx="274320" cy="274320"/>
          </a:xfrm>
          <a:prstGeom prst="ellipse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cleaning, summarizing real-world datasets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023360"/>
            <a:ext cx="274320" cy="274320"/>
          </a:xfrm>
          <a:prstGeom prst="ellipse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—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Aggregations and pivots that drive business dashboards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17720" y="4023360"/>
            <a:ext cx="274320" cy="274320"/>
          </a:xfrm>
          <a:prstGeom prst="ellipse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—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Reading, transforming and writing across file formats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— Pandas  ·  Data Science &amp; Generative AI ·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Core Objects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labeled array — like a single column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3566160" cy="23317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pd.Series([10, 20, 30],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index=['a','b','c'])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s['a']     </a:t>
            </a:r>
            <a:pPr indent="0" marL="0">
              <a:buNone/>
            </a:pPr>
            <a:r>
              <a:rPr lang="en-US" sz="120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s.mean()   </a:t>
            </a:r>
            <a:pPr indent="0" marL="0">
              <a:buNone/>
            </a:pPr>
            <a:r>
              <a:rPr lang="en-US" sz="120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20.0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0233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4023360" cy="73152"/>
          </a:xfrm>
          <a:prstGeom prst="rect">
            <a:avLst/>
          </a:prstGeom>
          <a:solidFill>
            <a:srgbClr val="E6BC2F"/>
          </a:solidFill>
          <a:ln w="12700">
            <a:solidFill>
              <a:srgbClr val="E6BC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DataFrame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labeled table — rows × columns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92040" y="2103120"/>
            <a:ext cx="3566160" cy="23317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194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'name': ['Alice','Bob'],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'age':  [25, 30],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'city': ['NY','LA']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pPr indent="0" marL="0">
              <a:buNone/>
            </a:pPr>
            <a:r>
              <a:rPr lang="en-US" sz="120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</a:t>
            </a:r>
            <a:pPr indent="0" marL="0">
              <a:buNone/>
            </a:pPr>
            <a:r>
              <a:rPr lang="en-US" sz="120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(2, 3)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2.2 — Pandas  ·  Data Science &amp; Generative AI ·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Data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reads almost any tabular format with a single line.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0175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9047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49047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818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pd.read_csv('sales.csv')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pd.read_excel('data.xlsx', sheet_name='Q1')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pd.read_json('records.json')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pd.read_sql('SELECT * FROM users', conn)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pd.read_parquet('big.parquet')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inspection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 rows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dtypes + memory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summary stats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Write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df.to_csv('out.csv', index=False)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parquet for large datasets — 5–10× smaller and much faster than CSV.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Indexing — loc vs iloc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 selection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 → Series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df[['name','age']]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→ DataFrame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Label-based: .loc[rows, cols]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'name']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'Alice'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df.loc[df['age'] &gt; 25]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filter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Position-based: .iloc[rows, cols]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df.iloc[0]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row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df.iloc[0:5, 0:3]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slice by position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uses labels (inclusive end), iloc uses positions (exclusive end) — like NumPy.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Transforming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Missing values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count NaNs per column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replace with 0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df.dropna(subset=['age'])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rows w/ NaN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Duplicates &amp; types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 = df['age'].astype(int)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/ transform columns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df['age_group'] = df['age'].apply(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a: 'adult' if a &gt;= 18 else 'minor')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df.rename(columns={'name': 'full_name'}, inplace=True)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.assign() and method chaining over inplace=True — keeps pipelines readable.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— Split · Apply · Combine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powerful pandas pattern. Group rows by a key, apply a function to each group, combine the results.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29260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5819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819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5819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781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aggregation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df.groupby('city')['sales'].sum()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df.groupby('city').agg(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total_sales=('sales', 'sum'),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avg_sales =('sales', 'mean'),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n_orders  =('id', 'count'),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multiple columns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df.groupby(['city', 'product'])['sales'].mean()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aggregation (Pandas 0.25+) gives clean, readable column names — use it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Merging, Joining &amp; Reshaping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291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SQL-style merge / join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pd.merge(orders, customers,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on='customer_id', how='left')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Stack DataFrames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pd.concat([df_jan, df_feb], axis=0)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rows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pd.concat([df_left, df_right], axis=1)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cols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Long ↔ Wide reshaping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df.pivot_table(index='city', columns='product',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values='sales', aggfunc='sum')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df.melt(id_vars=['city'], var_name='product')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 options: 'left', 'right', 'inner', 'outer' — same semantics as SQL JOINs.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2.2 — Key Takeaways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  <a:gridCol w="26517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Series / DataFrame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&amp; 2-D labeled data containers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of every workflow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read_* / to_*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I/O for CSV, Excel, JSON, SQL, Parquet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and persist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 / iloc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vs position-based selection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Filtering, slicing, sub-setting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fillna / dropna / astype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missing values &amp; types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groupby + agg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Split-apply-combine summarization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Aggregations &amp; reporting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BA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/ pivot / melt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 &amp; reshape DataFrames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Joins, wide ↔ long transforms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2.3 — Data Cleaning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2.2 — Pandas</dc:title>
  <dc:subject>PptxGenJS Presentation</dc:subject>
  <dc:creator>Mahankali Surya Tej</dc:creator>
  <cp:lastModifiedBy>Mahankali Surya Tej</cp:lastModifiedBy>
  <cp:revision>1</cp:revision>
  <dcterms:created xsi:type="dcterms:W3CDTF">2026-04-16T01:45:35Z</dcterms:created>
  <dcterms:modified xsi:type="dcterms:W3CDTF">2026-04-16T01:45:35Z</dcterms:modified>
</cp:coreProperties>
</file>