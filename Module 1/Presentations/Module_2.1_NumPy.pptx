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3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4DAB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16916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548640" y="2788920"/>
            <a:ext cx="4114800" cy="45720"/>
          </a:xfrm>
          <a:prstGeom prst="rect">
            <a:avLst/>
          </a:prstGeom>
          <a:solidFill>
            <a:srgbClr val="4DABCF"/>
          </a:solidFill>
          <a:ln w="12700">
            <a:solidFill>
              <a:srgbClr val="4DABC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 · Broadcasting · Vectorized Ops · Linear Algebra · Random Sampling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4206240"/>
            <a:ext cx="457200" cy="36576"/>
          </a:xfrm>
          <a:prstGeom prst="rect">
            <a:avLst/>
          </a:prstGeom>
          <a:solidFill>
            <a:srgbClr val="4DABCF"/>
          </a:solidFill>
          <a:ln w="12700">
            <a:solidFill>
              <a:srgbClr val="4DABC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Generative AI · Master Program 2026 · Foundation Track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NumPy?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Python — the foundational package for scientific computing in Python. Every data science library (Pandas, Scikit-learn, TensorFlow) is built on top of NumPy arrays.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783080"/>
            <a:ext cx="265176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8580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C-compiled arrays — 10–100× faster than Python lists for numerical ops.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783080"/>
            <a:ext cx="265176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47472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Contiguous memory layout with fixed dtypes — uses far less RAM than lists.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035040" y="1783080"/>
            <a:ext cx="265176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35040" y="1783080"/>
            <a:ext cx="265176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205740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3A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263640" y="2651760"/>
            <a:ext cx="21945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Pandas, Matplotlib, Scikit-learn, TensorFlow, PyTorch.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65760" y="486460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2.1 — NumPy  ·  Data Science &amp; Generative AI · 2026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 vs Python List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051560"/>
            <a:ext cx="397764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74C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Python List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Mixed types allowed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Slow element-wise loops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 built-in math ops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More memory per element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709160" y="1051560"/>
            <a:ext cx="3977640" cy="1645920"/>
          </a:xfrm>
          <a:prstGeom prst="rect">
            <a:avLst/>
          </a:prstGeom>
          <a:solidFill>
            <a:srgbClr val="FFFFFF"/>
          </a:solidFill>
          <a:ln w="6350">
            <a:solidFill>
              <a:srgbClr val="E5E9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51560"/>
            <a:ext cx="397764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18872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7AE6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NumPy Array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Homogeneous fixed dtype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Vectorized C-speed ops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Broadcasting, linear alg
</a:t>
            </a:r>
            <a:pPr indent="0" marL="0">
              <a:buNone/>
            </a:pPr>
            <a:r>
              <a:rPr lang="en-US" sz="12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 Compact memory layout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8229600" cy="21488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1792" y="304495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960" y="304495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4128" y="304495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291840"/>
            <a:ext cx="7818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Python list — slow loop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py_list = [1, 2, 3, 4, 5]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 = [x * 2 for x in py_list]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NumPy array — vectorized (100× faster)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     = np.array([1, 2, 3, 4, 5])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doubled = arr * 2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array([2, 4, 6, 8, 10])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Arrays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520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818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From Python lists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1-D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np.array([[1,2],[3,4]])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2-D (matrix)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Convenience constructors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np.zeros((3, 4)) 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3×4 of 0.0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np.ones((2, 3))  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2×3 of 1.0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np.full((2, 2), 7)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2×2 of 7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np.eye(3)        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3×3 identity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Ranges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np.arange(0, 10, 2)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[0, 2, 4, 6, 8]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np.linspace(0, 1, 5)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 evenly spaced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np.linspace for evenly spaced floats, np.arange for integer steps.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Attributes &amp; Reshaping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520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818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np.array([[1,2,3],[4,5,6]])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Key attributes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a.shape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(2, 3)   — rows × cols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a.ndim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        — number of dimensions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a.size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        — total elements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a.dtype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int64    — element data type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Reshaping (does NOT copy data)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a.reshape(3, 2)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[[1,2],[3,4],[5,6]]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a.reshape(6)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flatten to 1-D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a.reshape(-1, 1)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column vector (6×1)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a.T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transpose (3×2)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-1 in reshape to let NumPy auto-calculate that dimension.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520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818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np.array([10, 20, 30, 40, 50])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Basic indexing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10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a[-1]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50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a[1:4]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[20, 30, 40]  (start:stop)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2-D indexing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np.array([[1,2,3],[4,5,6],[7,8,9]])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m[0, 2]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      (row 0, col 2)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m[:2, 1:]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[[2,3],[5,6]]  (submatrix)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Boolean indexing (powerful!)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a[a &gt; 25]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[30, 40, 50]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m[m % 2 == 0]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[2, 4, 6, 8]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slices return views (not copies) — modifying a slice changes the original array.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Ops &amp; Broadcasting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 on entire arrays without writing loops — the core superpower of NumPy.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8229600" cy="315468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21792" y="149047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9047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49047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37360"/>
            <a:ext cx="78181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np.array([1, 2, 3])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np.array([10, 20, 30])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Element-wise arithmetic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b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[11, 22, 33]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 b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[10, 40, 90]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** 2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[ 1,  4,  9]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Broadcasting: scalar ↔ array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+ 100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[101, 102, 103]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Universal functions (ufuncs)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np.sqrt(a)           np.log(a)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np.exp(a)            np.sin(a)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Broadcasting lets arrays of different shapes work together — no manual reshaping needed.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Axis Operations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3520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781812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 = np.array([[1, 2, 3],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[4, 5, 6]])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Global aggregation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m.sum()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21        (all elements)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m.mean()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3.5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m.min()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m.max()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axis=0 → collapse rows (per-column)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m.sum(axis=0)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[5, 7, 9]
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axis=1 → collapse cols (per-row)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m.sum(axis=1)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[6, 15]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np.argmax(m, axis=1)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[2, 2]  (col index of max)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axis=0 means “down the rows”, axis=1 means “across the columns”.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77724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772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0"/>
            <a:ext cx="8595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Algebra &amp; Random Sampling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77640" cy="3520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2179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2412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3716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Linear Algebra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np.array([[1,2],[3,4]])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 = np.array([[5,6],[7,8]])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@ B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dot product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np.dot(A, B)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same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np.linalg.inv(A)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inverse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np.linalg.det(A)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determinant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np.linalg.eig(A)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eigenvalues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09160" y="960120"/>
            <a:ext cx="3977640" cy="3520440"/>
          </a:xfrm>
          <a:prstGeom prst="rect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73752" y="1124712"/>
            <a:ext cx="118872" cy="118872"/>
          </a:xfrm>
          <a:prstGeom prst="ellipse">
            <a:avLst/>
          </a:prstGeom>
          <a:solidFill>
            <a:srgbClr val="FF5F56"/>
          </a:solidFill>
          <a:ln w="12700">
            <a:solidFill>
              <a:srgbClr val="FF5F5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074920" y="1124712"/>
            <a:ext cx="118872" cy="118872"/>
          </a:xfrm>
          <a:prstGeom prst="ellipse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276088" y="1124712"/>
            <a:ext cx="118872" cy="118872"/>
          </a:xfrm>
          <a:prstGeom prst="ellipse">
            <a:avLst/>
          </a:prstGeom>
          <a:solidFill>
            <a:srgbClr val="27C93F"/>
          </a:solidFill>
          <a:ln w="12700">
            <a:solidFill>
              <a:srgbClr val="27C9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371600"/>
            <a:ext cx="356616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Sampling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 = np.random.default_rng(42)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rng.random((3,3))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uniform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rng.integers(0,10,5)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random ints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rng.normal(0,1,(3,3))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Gaussian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rng.choice([1,2,3], 5)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sample w/ replace
</a:t>
            </a:r>
            <a:pPr indent="0" marL="0">
              <a:buNone/>
            </a:pPr>
            <a:r>
              <a:rPr lang="en-US" sz="1150" dirty="0">
                <a:solidFill>
                  <a:srgbClr val="E5E9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rng.shuffle(arr)   </a:t>
            </a:r>
            <a:pPr indent="0" marL="0">
              <a:buNone/>
            </a:pPr>
            <a:r>
              <a:rPr lang="en-US" sz="1150" dirty="0">
                <a:solidFill>
                  <a:srgbClr val="8FD1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in-place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solidFill>
            <a:srgbClr val="EAF7FB"/>
          </a:solidFill>
          <a:ln w="12700">
            <a:solidFill>
              <a:srgbClr val="EAF7F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617720"/>
            <a:ext cx="73152" cy="411480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61772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</a:t>
            </a:r>
            <a:pPr indent="0" marL="0">
              <a:buNone/>
            </a:pPr>
            <a:r>
              <a:rPr lang="en-US" sz="1200" i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default_rng() (new-style) instead of np.random.seed() for reproducible results.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5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16BAC5"/>
          </a:solidFill>
          <a:ln w="12700">
            <a:solidFill>
              <a:srgbClr val="16BAC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 2.1 — Key Takeaways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3383280"/>
                <a:gridCol w="30175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function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B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ndarray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N-dimensional homogeneous array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np.array(), zeros, ones, eye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B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 / reshape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Inspect &amp; rearrange dimensions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.shape, .reshape(), .T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B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Select elements, rows, sub-arrays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a[0:3], a[a&gt;5], m[:, 1]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B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Vectorized 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 element-wise math, no loops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+, *, **, np.sqrt, np.exp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B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Summarize along axes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.sum(), .mean(), axis=0/1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4DABC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linalg / random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Matrix math &amp; random sampling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 operator, linalg, default_rng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F254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C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2.2 — Pandas Core &amp; Wrangling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2.1 — NumPy Fundamentals</dc:title>
  <dc:subject>PptxGenJS Presentation</dc:subject>
  <dc:creator>Mahankali Surya Tej</dc:creator>
  <cp:lastModifiedBy>Mahankali Surya Tej</cp:lastModifiedBy>
  <cp:revision>1</cp:revision>
  <dcterms:created xsi:type="dcterms:W3CDTF">2026-04-16T02:07:04Z</dcterms:created>
  <dcterms:modified xsi:type="dcterms:W3CDTF">2026-04-16T02:07:04Z</dcterms:modified>
</cp:coreProperties>
</file>